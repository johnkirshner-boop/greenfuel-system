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6fe751bc3e4969" /><Relationship Type="http://schemas.openxmlformats.org/officeDocument/2006/relationships/extended-properties" Target="/docProps/app.xml" Id="R347468e14278417b" /><Relationship Type="http://schemas.openxmlformats.org/officeDocument/2006/relationships/officeDocument" Target="/ppt/presentation.xml" Id="R9f5f21a5cd14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c998461f944fc6"/>
  </p:sldMasterIdLst>
  <p:notesMasterIdLst>
    <p:notesMasterId xmlns:r="http://schemas.openxmlformats.org/officeDocument/2006/relationships" r:id="R16d6a997270a4a71"/>
  </p:notesMasterIdLst>
  <p:sldIdLst>
    <p:sldId xmlns:r="http://schemas.openxmlformats.org/officeDocument/2006/relationships" id="256" r:id="Re8f1fbcf883044fc"/>
    <p:sldId xmlns:r="http://schemas.openxmlformats.org/officeDocument/2006/relationships" id="257" r:id="R976e592dd5a94b3f"/>
    <p:sldId xmlns:r="http://schemas.openxmlformats.org/officeDocument/2006/relationships" id="258" r:id="R245d322531bb49c6"/>
    <p:sldId xmlns:r="http://schemas.openxmlformats.org/officeDocument/2006/relationships" id="259" r:id="R085630e456594969"/>
    <p:sldId xmlns:r="http://schemas.openxmlformats.org/officeDocument/2006/relationships" id="260" r:id="R3d5747e355ba4223"/>
    <p:sldId xmlns:r="http://schemas.openxmlformats.org/officeDocument/2006/relationships" id="261" r:id="R86439b0363e84a32"/>
    <p:sldId xmlns:r="http://schemas.openxmlformats.org/officeDocument/2006/relationships" id="262" r:id="Re0932eab5c6447d2"/>
    <p:sldId xmlns:r="http://schemas.openxmlformats.org/officeDocument/2006/relationships" id="263" r:id="R3cc6673c97a747e1"/>
    <p:sldId xmlns:r="http://schemas.openxmlformats.org/officeDocument/2006/relationships" id="264" r:id="R3ebb4a0a0dd34451"/>
    <p:sldId xmlns:r="http://schemas.openxmlformats.org/officeDocument/2006/relationships" id="265" r:id="R0c71de6ce8434e82"/>
    <p:sldId xmlns:r="http://schemas.openxmlformats.org/officeDocument/2006/relationships" id="266" r:id="Re3264493692c40ef"/>
    <p:sldId xmlns:r="http://schemas.openxmlformats.org/officeDocument/2006/relationships" id="267" r:id="Ra5b0f39f8415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a16b32c6643d1" /><Relationship Type="http://schemas.openxmlformats.org/officeDocument/2006/relationships/slideMaster" Target="/ppt/slideMasters/slideMaster1.xml" Id="Rbcc998461f944fc6" /><Relationship Type="http://schemas.openxmlformats.org/officeDocument/2006/relationships/notesMaster" Target="/ppt/notesMasters/notesMaster1.xml" Id="R16d6a997270a4a71" /><Relationship Type="http://schemas.openxmlformats.org/officeDocument/2006/relationships/presProps" Target="/ppt/presProps.xml" Id="Rbc02f7aad0e345db" /><Relationship Type="http://schemas.openxmlformats.org/officeDocument/2006/relationships/tableStyles" Target="/ppt/tableStyles.xml" Id="R869bcdda84194648" /><Relationship Type="http://schemas.openxmlformats.org/officeDocument/2006/relationships/slide" Target="/ppt/slides/slide1.xml" Id="Re8f1fbcf883044fc" /><Relationship Type="http://schemas.openxmlformats.org/officeDocument/2006/relationships/slide" Target="/ppt/slides/slide2.xml" Id="R976e592dd5a94b3f" /><Relationship Type="http://schemas.openxmlformats.org/officeDocument/2006/relationships/slide" Target="/ppt/slides/slide3.xml" Id="R245d322531bb49c6" /><Relationship Type="http://schemas.openxmlformats.org/officeDocument/2006/relationships/slide" Target="/ppt/slides/slide4.xml" Id="R085630e456594969" /><Relationship Type="http://schemas.openxmlformats.org/officeDocument/2006/relationships/slide" Target="/ppt/slides/slide5.xml" Id="R3d5747e355ba4223" /><Relationship Type="http://schemas.openxmlformats.org/officeDocument/2006/relationships/slide" Target="/ppt/slides/slide6.xml" Id="R86439b0363e84a32" /><Relationship Type="http://schemas.openxmlformats.org/officeDocument/2006/relationships/slide" Target="/ppt/slides/slide7.xml" Id="Re0932eab5c6447d2" /><Relationship Type="http://schemas.openxmlformats.org/officeDocument/2006/relationships/slide" Target="/ppt/slides/slide8.xml" Id="R3cc6673c97a747e1" /><Relationship Type="http://schemas.openxmlformats.org/officeDocument/2006/relationships/slide" Target="/ppt/slides/slide9.xml" Id="R3ebb4a0a0dd34451" /><Relationship Type="http://schemas.openxmlformats.org/officeDocument/2006/relationships/slide" Target="/ppt/slides/slide10.xml" Id="R0c71de6ce8434e82" /><Relationship Type="http://schemas.openxmlformats.org/officeDocument/2006/relationships/slide" Target="/ppt/slides/slide11.xml" Id="Re3264493692c40ef" /><Relationship Type="http://schemas.openxmlformats.org/officeDocument/2006/relationships/slide" Target="/ppt/slides/slide12.xml" Id="Ra5b0f39f8415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937a8dbb16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uelSight Green">
      <a:dk1>
        <a:srgbClr val="000000"/>
      </a:dk1>
      <a:lt1>
        <a:srgbClr val="FFFFFF"/>
      </a:lt1>
      <a:dk2>
        <a:srgbClr val="0F2D20"/>
      </a:dk2>
      <a:lt2>
        <a:srgbClr val="E5EFE9"/>
      </a:lt2>
      <a:accent1>
        <a:srgbClr val="147A3A"/>
      </a:accent1>
      <a:accent2>
        <a:srgbClr val="5BBF22"/>
      </a:accent2>
      <a:accent3>
        <a:srgbClr val="D97706"/>
      </a:accent3>
      <a:accent4>
        <a:srgbClr val="2563EB"/>
      </a:accent4>
      <a:accent5>
        <a:srgbClr val="0EA5E9"/>
      </a:accent5>
      <a:accent6>
        <a:srgbClr val="16A34A"/>
      </a:accent6>
      <a:hlink>
        <a:srgbClr val="2563EB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elSigh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535661d9704f1a" /><Relationship Type="http://schemas.openxmlformats.org/officeDocument/2006/relationships/notesMaster" Target="/ppt/notesMasters/notesMaster1.xml" Id="Rffda34a78c61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b7d90e6e74ad1" /><Relationship Type="http://schemas.openxmlformats.org/officeDocument/2006/relationships/notesMaster" Target="/ppt/notesMasters/notesMaster1.xml" Id="Rba0cc32ad33e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b9e1a40119431c" /><Relationship Type="http://schemas.openxmlformats.org/officeDocument/2006/relationships/notesMaster" Target="/ppt/notesMasters/notesMaster1.xml" Id="R48d412ef9579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f7b3fbfda4185" /><Relationship Type="http://schemas.openxmlformats.org/officeDocument/2006/relationships/notesMaster" Target="/ppt/notesMasters/notesMaster1.xml" Id="R0e80bee0adb045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d4282f2826459c" /><Relationship Type="http://schemas.openxmlformats.org/officeDocument/2006/relationships/notesMaster" Target="/ppt/notesMasters/notesMaster1.xml" Id="R5b2c6e52273f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340e3b5226434e" /><Relationship Type="http://schemas.openxmlformats.org/officeDocument/2006/relationships/notesMaster" Target="/ppt/notesMasters/notesMaster1.xml" Id="R6b5b8d422c27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0d786844e4cb4" /><Relationship Type="http://schemas.openxmlformats.org/officeDocument/2006/relationships/notesMaster" Target="/ppt/notesMasters/notesMaster1.xml" Id="R0668e3229fba47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9d9ec05b354985" /><Relationship Type="http://schemas.openxmlformats.org/officeDocument/2006/relationships/notesMaster" Target="/ppt/notesMasters/notesMaster1.xml" Id="R4436f0963b7c46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71cd4ce3df4f4f" /><Relationship Type="http://schemas.openxmlformats.org/officeDocument/2006/relationships/notesMaster" Target="/ppt/notesMasters/notesMaster1.xml" Id="Rf40c91647c204f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becd98cdaf4501" /><Relationship Type="http://schemas.openxmlformats.org/officeDocument/2006/relationships/notesMaster" Target="/ppt/notesMasters/notesMaster1.xml" Id="Raf752551ef42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c83da7df6c473c" /><Relationship Type="http://schemas.openxmlformats.org/officeDocument/2006/relationships/notesMaster" Target="/ppt/notesMasters/notesMaster1.xml" Id="R2b3997899ebc48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56ee527c884470" /><Relationship Type="http://schemas.openxmlformats.org/officeDocument/2006/relationships/notesMaster" Target="/ppt/notesMasters/notesMaster1.xml" Id="Rffa3469a7a38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FuelSight login screen and role-based entry point for Owner, Manager, and Cashier portals.</a:t>
            </a:r>
          </a:p>
          <a:p xmlns:a="http://schemas.openxmlformats.org/drawingml/2006/main">
            <a:r>
              <a:t>Specific objective supported: Objective 2, which introduces the centralized web-based invoicing and sales reporting application, and Objective 3, because it is implemented as a web-based system.</a:t>
            </a:r>
          </a:p>
          <a:p xmlns:a="http://schemas.openxmlformats.org/drawingml/2006/main">
            <a:r>
              <a:t>[Sources]
Local screenshot(s): 01-login,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Owner Dashboard that summarizes branch-level sales and graphical performance indicators.</a:t>
            </a:r>
          </a:p>
          <a:p xmlns:a="http://schemas.openxmlformats.org/drawingml/2006/main">
            <a:r>
              <a:t>Specific objective supported: Objectives 2.1, 2.3, 2.6.</a:t>
            </a:r>
          </a:p>
          <a:p xmlns:a="http://schemas.openxmlformats.org/drawingml/2006/main">
            <a:r>
              <a:t>[Sources]
Local screenshot(s): 02-owner-dashboard,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User Roles screen where the owner manages branch and position assignments for system users.</a:t>
            </a:r>
          </a:p>
          <a:p xmlns:a="http://schemas.openxmlformats.org/drawingml/2006/main">
            <a:r>
              <a:t>Specific objective supported: Objectives 2.4, 4.</a:t>
            </a:r>
          </a:p>
          <a:p xmlns:a="http://schemas.openxmlformats.org/drawingml/2006/main">
            <a:r>
              <a:t>[Sources]
Local screenshot(s): 03-owner-user-roles,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owner Fuel Prices module showing network base prices, pending manager requests, and price request history.</a:t>
            </a:r>
          </a:p>
          <a:p xmlns:a="http://schemas.openxmlformats.org/drawingml/2006/main">
            <a:r>
              <a:t>Specific objective supported: Objectives 2.1, 2.4, 4.</a:t>
            </a:r>
          </a:p>
          <a:p xmlns:a="http://schemas.openxmlformats.org/drawingml/2006/main">
            <a:r>
              <a:t>[Sources]
Local screenshot(s): 04-owner-fuel-prices,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Branches module after opening a specific branch, including its daily records tab and branch performance context.</a:t>
            </a:r>
          </a:p>
          <a:p xmlns:a="http://schemas.openxmlformats.org/drawingml/2006/main">
            <a:r>
              <a:t>Specific objective supported: Objectives 2.1, 2.5, 2.6.</a:t>
            </a:r>
          </a:p>
          <a:p xmlns:a="http://schemas.openxmlformats.org/drawingml/2006/main">
            <a:r>
              <a:t>[Sources]
Local screenshot(s): 06-owner-branch-detail,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Branch Comparison screen with month and week controls, branch ranking, and performance metrics.</a:t>
            </a:r>
          </a:p>
          <a:p xmlns:a="http://schemas.openxmlformats.org/drawingml/2006/main">
            <a:r>
              <a:t>Specific objective supported: Objectives 2.3, 2.6.</a:t>
            </a:r>
          </a:p>
          <a:p xmlns:a="http://schemas.openxmlformats.org/drawingml/2006/main">
            <a:r>
              <a:t>[Sources]
Local screenshot(s): 07-owner-branch-comparison,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Manager Daily Entry screen with inventory fields arranged in a tabbed layout as requested after adviser feedback.</a:t>
            </a:r>
          </a:p>
          <a:p xmlns:a="http://schemas.openxmlformats.org/drawingml/2006/main">
            <a:r>
              <a:t>Specific objective supported: Objectives 1, 2.5.</a:t>
            </a:r>
          </a:p>
          <a:p xmlns:a="http://schemas.openxmlformats.org/drawingml/2006/main">
            <a:r>
              <a:t>[Sources]
Local screenshot(s): 09-manager-daily-entry,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screenshots show: the manager Records Log with daily entry IDs and the POS Transactions tab for monitoring cashier sales and voided records.</a:t>
            </a:r>
          </a:p>
          <a:p xmlns:a="http://schemas.openxmlformats.org/drawingml/2006/main">
            <a:r>
              <a:t>Specific objective supported: Objective 2.4.</a:t>
            </a:r>
          </a:p>
          <a:p xmlns:a="http://schemas.openxmlformats.org/drawingml/2006/main">
            <a:r>
              <a:t>[Sources]
Local screenshot(s): 10-manager-records-log, 11-manager-pos-transactions,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manager Weekly Reports module with configurable report span, daily entry summary, fuel breakdown, and submit/print controls.</a:t>
            </a:r>
          </a:p>
          <a:p xmlns:a="http://schemas.openxmlformats.org/drawingml/2006/main">
            <a:r>
              <a:t>Specific objective supported: Objectives 2.5, 2.6.</a:t>
            </a:r>
          </a:p>
          <a:p xmlns:a="http://schemas.openxmlformats.org/drawingml/2006/main">
            <a:r>
              <a:t>[Sources]
Local screenshot(s): 12-manager-weekly-reports,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manager Fuel Prices module used to request local fuel price changes for the assigned branch.</a:t>
            </a:r>
          </a:p>
          <a:p xmlns:a="http://schemas.openxmlformats.org/drawingml/2006/main">
            <a:r>
              <a:t>Specific objective supported: Objectives 2.1, 2.4, 4.</a:t>
            </a:r>
          </a:p>
          <a:p xmlns:a="http://schemas.openxmlformats.org/drawingml/2006/main">
            <a:r>
              <a:t>[Sources]
Local screenshot(s): 13-manager-price-request,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 shows: the Cashier POS Terminal showing product selection, VAT included calculations, cash received denomination buttons, change given recording, and current shift totals.</a:t>
            </a:r>
          </a:p>
          <a:p xmlns:a="http://schemas.openxmlformats.org/drawingml/2006/main">
            <a:r>
              <a:t>Specific objective supported: Objectives 2.2, 2.4, 2.5.</a:t>
            </a:r>
          </a:p>
          <a:p xmlns:a="http://schemas.openxmlformats.org/drawingml/2006/main">
            <a:r>
              <a:t>[Sources]
Local screenshot(s): 14-cashier-pos-terminal,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screenshots show: a compact overview of the developed modules used as evidence for the study objectives.</a:t>
            </a:r>
          </a:p>
          <a:p xmlns:a="http://schemas.openxmlformats.org/drawingml/2006/main">
            <a:r>
              <a:t>Specific objective supported: Objectives 1, 2.1 through 2.6, 3, and 4.</a:t>
            </a:r>
          </a:p>
          <a:p xmlns:a="http://schemas.openxmlformats.org/drawingml/2006/main">
            <a:r>
              <a:t>[Sources]
Local screenshot(s): 02-owner-dashboard, 09-manager-daily-entry, 12-manager-weekly-reports, 14-cashier-pos-terminal, captured from http://localhost/greenfuel-project/frontend/index.html on 2026-08-29.
Study objectives: supplied by the user in this Codex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ebfcd4f1b47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ab29e54564ff0" /><Relationship Type="http://schemas.openxmlformats.org/officeDocument/2006/relationships/slideLayout" Target="/ppt/slideLayouts/slideLayout1.xml" Id="R1e38d1cb108644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38d1cb108644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uelSight Green">
      <a:dk1>
        <a:srgbClr val="000000"/>
      </a:dk1>
      <a:lt1>
        <a:srgbClr val="FFFFFF"/>
      </a:lt1>
      <a:dk2>
        <a:srgbClr val="0F2D20"/>
      </a:dk2>
      <a:lt2>
        <a:srgbClr val="E5EFE9"/>
      </a:lt2>
      <a:accent1>
        <a:srgbClr val="147A3A"/>
      </a:accent1>
      <a:accent2>
        <a:srgbClr val="5BBF22"/>
      </a:accent2>
      <a:accent3>
        <a:srgbClr val="D97706"/>
      </a:accent3>
      <a:accent4>
        <a:srgbClr val="2563EB"/>
      </a:accent4>
      <a:accent5>
        <a:srgbClr val="0EA5E9"/>
      </a:accent5>
      <a:accent6>
        <a:srgbClr val="16A34A"/>
      </a:accent6>
      <a:hlink>
        <a:srgbClr val="2563EB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elSigh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8d5531a6b4839" /><Relationship Type="http://schemas.openxmlformats.org/officeDocument/2006/relationships/image" Target="/ppt/media/image.png" Id="R69c49e05a3a44a3e" /><Relationship Type="http://schemas.openxmlformats.org/officeDocument/2006/relationships/image" Target="/ppt/media/image2.png" Id="Ra1a0420c97b64959" /><Relationship Type="http://schemas.openxmlformats.org/officeDocument/2006/relationships/notesSlide" Target="/ppt/notesSlides/notesSlide1.xml" Id="R61bd731d92604a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589cb746047de" /><Relationship Type="http://schemas.openxmlformats.org/officeDocument/2006/relationships/image" Target="/ppt/media/image3.png" Id="R3e889fe58df44f29" /><Relationship Type="http://schemas.openxmlformats.org/officeDocument/2006/relationships/image" Target="/ppt/media/image4.png" Id="Ra5b12fdea8644547" /><Relationship Type="http://schemas.openxmlformats.org/officeDocument/2006/relationships/notesSlide" Target="/ppt/notesSlides/notesSlide2.xml" Id="R68b7d188ba5b43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0d1e643b24a93" /><Relationship Type="http://schemas.openxmlformats.org/officeDocument/2006/relationships/image" Target="/ppt/media/image5.png" Id="Rf4ba349b2bb0433c" /><Relationship Type="http://schemas.openxmlformats.org/officeDocument/2006/relationships/image" Target="/ppt/media/image6.png" Id="R4151b0715c8f4c35" /><Relationship Type="http://schemas.openxmlformats.org/officeDocument/2006/relationships/notesSlide" Target="/ppt/notesSlides/notesSlide3.xml" Id="R39b165ee8ae8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59096f2de4548" /><Relationship Type="http://schemas.openxmlformats.org/officeDocument/2006/relationships/image" Target="/ppt/media/image7.png" Id="Rba94353b64e6475c" /><Relationship Type="http://schemas.openxmlformats.org/officeDocument/2006/relationships/image" Target="/ppt/media/image8.png" Id="R38e0f0aed1154820" /><Relationship Type="http://schemas.openxmlformats.org/officeDocument/2006/relationships/notesSlide" Target="/ppt/notesSlides/notesSlide4.xml" Id="Ra443d8127b564f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18bb01dea445d" /><Relationship Type="http://schemas.openxmlformats.org/officeDocument/2006/relationships/image" Target="/ppt/media/image9.png" Id="Rd310cf15ef164bf0" /><Relationship Type="http://schemas.openxmlformats.org/officeDocument/2006/relationships/image" Target="/ppt/media/image10.png" Id="R7e4bde33217b483c" /><Relationship Type="http://schemas.openxmlformats.org/officeDocument/2006/relationships/notesSlide" Target="/ppt/notesSlides/notesSlide5.xml" Id="R1746e9a3411f42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e87c2a2ee4f2e" /><Relationship Type="http://schemas.openxmlformats.org/officeDocument/2006/relationships/image" Target="/ppt/media/image11.png" Id="R83238433eae245de" /><Relationship Type="http://schemas.openxmlformats.org/officeDocument/2006/relationships/image" Target="/ppt/media/image12.png" Id="Rc7eeea13033b4db6" /><Relationship Type="http://schemas.openxmlformats.org/officeDocument/2006/relationships/notesSlide" Target="/ppt/notesSlides/notesSlide6.xml" Id="R7fbe54d6e8ad40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0df09bf3e4851" /><Relationship Type="http://schemas.openxmlformats.org/officeDocument/2006/relationships/image" Target="/ppt/media/image13.png" Id="Rb8acd3d84fd44e3f" /><Relationship Type="http://schemas.openxmlformats.org/officeDocument/2006/relationships/image" Target="/ppt/media/image14.png" Id="Ra5249729e5a74c0d" /><Relationship Type="http://schemas.openxmlformats.org/officeDocument/2006/relationships/notesSlide" Target="/ppt/notesSlides/notesSlide7.xml" Id="R62412b40b5c443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22104652a4e09" /><Relationship Type="http://schemas.openxmlformats.org/officeDocument/2006/relationships/image" Target="/ppt/media/image15.png" Id="R10a2d403281d471a" /><Relationship Type="http://schemas.openxmlformats.org/officeDocument/2006/relationships/image" Target="/ppt/media/image16.png" Id="R7d1d97d572084294" /><Relationship Type="http://schemas.openxmlformats.org/officeDocument/2006/relationships/image" Target="/ppt/media/image17.png" Id="Reb2d7fb805b64fed" /><Relationship Type="http://schemas.openxmlformats.org/officeDocument/2006/relationships/notesSlide" Target="/ppt/notesSlides/notesSlide8.xml" Id="R7aaceb3620894b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091f60cb640a0" /><Relationship Type="http://schemas.openxmlformats.org/officeDocument/2006/relationships/image" Target="/ppt/media/image18.png" Id="R155323cd70ef4ff5" /><Relationship Type="http://schemas.openxmlformats.org/officeDocument/2006/relationships/image" Target="/ppt/media/image19.png" Id="R246a5026f2be4296" /><Relationship Type="http://schemas.openxmlformats.org/officeDocument/2006/relationships/notesSlide" Target="/ppt/notesSlides/notesSlide9.xml" Id="R8ab6f59068b643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ffeec93624f5d" /><Relationship Type="http://schemas.openxmlformats.org/officeDocument/2006/relationships/image" Target="/ppt/media/image20.png" Id="R804d328d34b648c5" /><Relationship Type="http://schemas.openxmlformats.org/officeDocument/2006/relationships/image" Target="/ppt/media/image21.png" Id="R1148c0d2e30b4d91" /><Relationship Type="http://schemas.openxmlformats.org/officeDocument/2006/relationships/notesSlide" Target="/ppt/notesSlides/notesSlide10.xml" Id="R12245091ceb64b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33273ab754e16" /><Relationship Type="http://schemas.openxmlformats.org/officeDocument/2006/relationships/image" Target="/ppt/media/image22.png" Id="R18841b6adbd349a5" /><Relationship Type="http://schemas.openxmlformats.org/officeDocument/2006/relationships/image" Target="/ppt/media/image23.png" Id="R88e01224218d4fe8" /><Relationship Type="http://schemas.openxmlformats.org/officeDocument/2006/relationships/notesSlide" Target="/ppt/notesSlides/notesSlide11.xml" Id="R4e2dc2b0109443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52d10968345f2" /><Relationship Type="http://schemas.openxmlformats.org/officeDocument/2006/relationships/image" Target="/ppt/media/image24.png" Id="R97ce4a8b096248ad" /><Relationship Type="http://schemas.openxmlformats.org/officeDocument/2006/relationships/image" Target="/ppt/media/image25.png" Id="R74f56b08333a45e4" /><Relationship Type="http://schemas.openxmlformats.org/officeDocument/2006/relationships/image" Target="/ppt/media/image26.png" Id="R7ec33c6834104a75" /><Relationship Type="http://schemas.openxmlformats.org/officeDocument/2006/relationships/image" Target="/ppt/media/image27.png" Id="R07317d0892ed4249" /><Relationship Type="http://schemas.openxmlformats.org/officeDocument/2006/relationships/image" Target="/ppt/media/image28.png" Id="Rc1c660beba7e404b" /><Relationship Type="http://schemas.openxmlformats.org/officeDocument/2006/relationships/notesSlide" Target="/ppt/notesSlides/notesSlide12.xml" Id="Rbbd0479709d441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D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7770E-3FBE-49B9-855B-6C1DFC43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20"/>
          </a:solidFill>
          <a:ln xmlns:a="http://schemas.openxmlformats.org/drawingml/2006/main" w="0">
            <a:solidFill>
              <a:srgbClr val="0F2D2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49e05a3a44a3e"/>
          <a:srcRect xmlns:a="http://schemas.openxmlformats.org/drawingml/2006/main" l="20920" t="0" r="209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7709F-62FB-4533-8004-0E58A65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20"/>
          </a:solidFill>
          <a:ln xmlns:a="http://schemas.openxmlformats.org/drawingml/2006/main" w="0">
            <a:solidFill>
              <a:srgbClr val="0F2D20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0420c97b64959"/>
          <a:stretch xmlns:a="http://schemas.openxmlformats.org/drawingml/2006/main"/>
        </p:blipFill>
        <p:spPr>
          <a:xfrm xmlns:a="http://schemas.openxmlformats.org/drawingml/2006/main">
            <a:off x="723900" y="821714"/>
            <a:ext cx="819150" cy="66162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C335D-42B7-4E6C-9FF7-305930C2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FuelSight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62886-4944-468F-97E1-1D2CFB9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F5E6"/>
                </a:solidFill>
              </a:defRPr>
            </a:pPr>
            <a:r>
              <a:rPr sz="1875" b="0">
                <a:solidFill>
                  <a:srgbClr val="DDF5E6"/>
                </a:solidFill>
              </a:rPr>
              <a:t>Centralized invoicing and sales reporting system for GreenFuel Gas Station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D86D1-0086-4B5F-B64D-93816A59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F7D8A-7F60-4919-80E9-33EBF21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EAD0"/>
                </a:solidFill>
              </a:defRPr>
            </a:pPr>
            <a:r>
              <a:rPr sz="1500" b="0">
                <a:solidFill>
                  <a:srgbClr val="BFEAD0"/>
                </a:solidFill>
              </a:rPr>
              <a:t>Actual developed system screenshots with objective-aligned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49064-6440-4F91-91AF-3FFAC757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9ED"/>
          </a:solidFill>
          <a:ln xmlns:a="http://schemas.openxmlformats.org/drawingml/2006/main" w="0">
            <a:solidFill>
              <a:srgbClr val="DCE8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GreenFuel Fuel Safe</a:t>
            </a:r>
          </a:p>
        </p:txBody>
      </p:sp>
    </p:spTree>
    <p:extLst>
      <p:ext uri="{BB962C8B-B14F-4D97-AF65-F5344CB8AC3E}">
        <p14:creationId xmlns:p14="http://schemas.microsoft.com/office/powerpoint/2010/main" val="246225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89fe58df44f29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F6D83-8D1A-4841-AAE7-7C2DE367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OWNER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70837-9BCA-43AD-946A-C18D83D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Centralized Monitoring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E9FB9-E3FA-4A8C-8B11-5D512CA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A single owner view for branch sales, revenue, and operating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D3860-8783-44D9-AD11-7DB3F05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220B3-D198-4AA4-A2A3-BA516CE3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12fdea8644547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6783B-A53F-4CAA-B011-9F08F8BE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F9F47-193B-4E90-AB5A-46FF9849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A2C3E-2230-4F4A-8404-C3240D6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Network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309AA-3008-4A25-B832-25B3EDCE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1DE75-A5BA-4C4F-A6AE-3D8DB80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Owner can monitor multiple branch records from one portal.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9A93B-B9C9-4391-9916-3D84BD8B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71581-6ECD-4CF3-A0C7-9FEA02D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Dashboard cards and charts support fast operational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3FEF3-1AD2-4EF6-B8BF-069C36B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029E0-B4F8-45C5-83AA-CB600E2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Centralized view supports real-time branch sales synchronization.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01660-9BB3-4D0B-990A-C45F7DD3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AA192-D06A-458D-9BCC-A31BFB1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24E45-9228-4B86-9548-0A714BB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A3A"/>
                </a:solidFill>
              </a:defRPr>
            </a:pPr>
            <a:r>
              <a:rPr sz="1200" b="1">
                <a:solidFill>
                  <a:srgbClr val="147A3A"/>
                </a:solidFill>
              </a:rPr>
              <a:t>Objectives 2.1, 2.3, 2.6</a:t>
            </a:r>
          </a:p>
        </p:txBody>
      </p:sp>
    </p:spTree>
    <p:extLst>
      <p:ext uri="{BB962C8B-B14F-4D97-AF65-F5344CB8AC3E}">
        <p14:creationId xmlns:p14="http://schemas.microsoft.com/office/powerpoint/2010/main" val="2012512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a349b2bb0433c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89D88-71D2-4997-8409-73C211A4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SECURITY AND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26E95-6DCC-4003-A792-7150619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User Role Assignment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339C5-B305-4AFF-9590-FAACDEB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Owner assigns each user to a role and branch before portal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A2DFD-15C0-4A07-A187-BFCD117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CE0F1-5574-4178-B949-7EA1ACC6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1b0715c8f4c35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4C7D6-7EB3-4EFA-B266-522AAAC2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A7E83-AF84-451A-AF31-C682C548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BF22"/>
          </a:solidFill>
          <a:ln xmlns:a="http://schemas.openxmlformats.org/drawingml/2006/main" w="0">
            <a:solidFill>
              <a:srgbClr val="5BBF2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59B7D-58F1-44F8-BA05-E1A2C79D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Controlled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C8921-28B3-4281-8A11-05A3553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F22"/>
          </a:solidFill>
          <a:ln xmlns:a="http://schemas.openxmlformats.org/drawingml/2006/main" w="0">
            <a:solidFill>
              <a:srgbClr val="5BBF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85E2E-EE8B-419A-9126-5A5EBCF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Owner can assign users as owner, manager, or cashier.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5DD47-A63B-4827-9775-B625480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F22"/>
          </a:solidFill>
          <a:ln xmlns:a="http://schemas.openxmlformats.org/drawingml/2006/main" w="0">
            <a:solidFill>
              <a:srgbClr val="5BBF2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9A38F-3115-4C33-80F0-C11CC3A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Manager and cashier accounts are tied to a specific branch.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CD70E-822D-44A3-8FA5-5267B8B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BF22"/>
          </a:solidFill>
          <a:ln xmlns:a="http://schemas.openxmlformats.org/drawingml/2006/main" w="0">
            <a:solidFill>
              <a:srgbClr val="5BBF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7AF62-988F-4850-A36C-27FCC1B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This supports accountability and separation of responsibilities.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4CB56-C085-4B13-A906-F53FE498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EBEBB-4550-4115-9A3A-68994B0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2261A-A004-46E2-81DC-E50E3444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BF22"/>
                </a:solidFill>
              </a:defRPr>
            </a:pPr>
            <a:r>
              <a:rPr sz="1200" b="1">
                <a:solidFill>
                  <a:srgbClr val="5BBF22"/>
                </a:solidFill>
              </a:rPr>
              <a:t>Objectives 2.4, 4</a:t>
            </a:r>
          </a:p>
        </p:txBody>
      </p:sp>
    </p:spTree>
    <p:extLst>
      <p:ext uri="{BB962C8B-B14F-4D97-AF65-F5344CB8AC3E}">
        <p14:creationId xmlns:p14="http://schemas.microsoft.com/office/powerpoint/2010/main" val="271824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4353b64e6475c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89178-88E5-4AA4-A151-C37A45E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PRICE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B7F77-70F8-41A6-8926-9F9A2FA3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Owner-Controlled Fuel Prices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A260D-4880-4391-ACF2-003415E3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Base prices are set by the owner, with branch requests reviewed before applying to POS.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D618C-89A0-4553-A34F-15D728E7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567D8-9CF7-44D0-916C-4BD2050F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0f0aed1154820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0BF33-2FDF-42FE-8992-AE8FFCB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FB32C-D01A-4CC4-90CE-60967FC7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8ABD4-1ABC-4410-9186-BD84A07C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Approval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02F23-21C7-4B99-90C9-79760F5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6A603-B087-43FC-8261-C587FFEF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Owner sets official base pump prices for all branches.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79E1E-1938-4AF5-BD01-87B0FB1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8BDCE-4576-4D1C-B1D8-690A8951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Managers can request branch-specific changes when local competitors shift.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EC2F8-1E3C-46F2-B506-85FB03B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F570B-654F-43EC-85AF-568CA1CE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Approved prices become the branch price used by cashier POS terminals.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FCD70-0955-46D2-B860-25851EF3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25560-413D-439C-8BCF-A66403D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84DBFD-6BF8-4F24-AFFA-1F1C75FC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Objectives 2.1, 2.4, 4</a:t>
            </a:r>
          </a:p>
        </p:txBody>
      </p:sp>
    </p:spTree>
    <p:extLst>
      <p:ext uri="{BB962C8B-B14F-4D97-AF65-F5344CB8AC3E}">
        <p14:creationId xmlns:p14="http://schemas.microsoft.com/office/powerpoint/2010/main" val="2640135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0cf15ef164bf0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21EE4-26E0-4B37-B9C4-97F482B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BRANCH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2591F-7237-4753-9084-FABE36A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Branch Daily Records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BE4BB-B1B2-4B39-BC08-DD7ED32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Owner can open a branch and review submitted daily records in a familiar table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E945E-9EA0-49E8-8E18-807E1C3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A317A-1B7B-4AFC-9DF3-C37C1C72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bde33217b483c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26E16-85AD-49DA-8688-0C442422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B5BBB-D065-4998-8012-98EF6551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DFB21-6348-40CF-B0A6-89FD5DA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Branch drill-down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CC021-39F0-44F5-9F91-A278C16E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4AF7-6AC6-4B37-8AE6-1F53364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Branch detail view separates daily records and submitted weekly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2625D-6EB6-4C32-B8E6-3E9853CF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3615E-0641-4705-920E-FEA620F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Daily records are visible after manager submission.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6CA60-F263-4227-B34C-99F68F7B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00133-5FA1-4D9B-8267-C75D59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The branch dashboard connects operational data to owner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FBD9C-4EF4-4B05-AEBE-62E3394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0DA7C-9A12-494C-8CCF-A85681E9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F661-04CF-4EFF-A252-98A5B84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A3A"/>
                </a:solidFill>
              </a:defRPr>
            </a:pPr>
            <a:r>
              <a:rPr sz="1200" b="1">
                <a:solidFill>
                  <a:srgbClr val="147A3A"/>
                </a:solidFill>
              </a:rPr>
              <a:t>Objectives 2.1, 2.5, 2.6</a:t>
            </a:r>
          </a:p>
        </p:txBody>
      </p:sp>
    </p:spTree>
    <p:extLst>
      <p:ext uri="{BB962C8B-B14F-4D97-AF65-F5344CB8AC3E}">
        <p14:creationId xmlns:p14="http://schemas.microsoft.com/office/powerpoint/2010/main" val="499977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38433eae245de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18A2-9EF1-4A51-BFFE-554E4DB4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PERFORMANCE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BDF28-5BD8-4FDA-84B6-8CC93CCD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Branch Comparison by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47D89-D5A6-47C6-B30F-19C41502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Branch performance is grouped by weeks of the selected month.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8AE2-B57D-40EA-A626-506AB94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BCDCA-1E2B-4D71-B777-E96B248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eea13033b4db6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3A1E3-3339-48A5-AF8E-E8AE715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BCB67-BE32-443A-AB6A-DADD59AF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99A49-D9F6-40FF-9961-C88FCFC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Month-week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D6185-0160-4C3A-B8E3-6C13FBD2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2B62B-FD21-4981-A385-AB07C3C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Owner selects a month and compares Week 1 through Week 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0C444-D0A1-4D9B-90AE-3FC86E79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A3147-7833-4235-8002-28634AA4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Branch totals, liters, and transactions are presented side by side.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3B62F-CB07-43C9-A7A6-2840860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659A3-17C8-4CC1-A96C-A03B1C4D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Ranking and trend indicators support branch performance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43B1B-7FC7-493B-B752-649C6771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05421-A49A-49D6-8502-EDFBAA2F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EB066-2C22-4D7A-B7A5-C77BECF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A5E9"/>
                </a:solidFill>
              </a:defRPr>
            </a:pPr>
            <a:r>
              <a:rPr sz="1200" b="1">
                <a:solidFill>
                  <a:srgbClr val="0EA5E9"/>
                </a:solidFill>
              </a:rPr>
              <a:t>Objectives 2.3, 2.6</a:t>
            </a:r>
          </a:p>
        </p:txBody>
      </p:sp>
    </p:spTree>
    <p:extLst>
      <p:ext uri="{BB962C8B-B14F-4D97-AF65-F5344CB8AC3E}">
        <p14:creationId xmlns:p14="http://schemas.microsoft.com/office/powerpoint/2010/main" val="925641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cd3d84fd44e3f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6029-075B-44FD-BEAA-2035343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MANAGER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4525A-CAD7-406C-9DFC-CBE8462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Tabbed Daily Sales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020B6-2405-4310-8440-B761C8AD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Daily entry sections are organized into tabs to reduce scrolling for managers.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97586-1503-4701-A389-2FE7ADA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1A97A-B799-4F3A-9AAA-6547F5F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49729e5a74c0d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FD50D-C290-4D10-A707-2DD57AC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77E2-176C-4625-81D3-AD072529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B2B99-9061-4C9D-9B11-9722CA3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Daily report 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F5BF7-837D-447B-9D53-E44AE70C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7228A-E97A-43FC-97E6-57946DC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Shift information remains visible above the tabs.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E892-A399-4E40-8B84-B1CFC1A1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B7E36-1566-4FB5-B51E-94BE92E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Inventory, pump readings, cash and expenses, and submission are separated.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91D08-25B2-4D7A-946E-CE64D26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A021A-CC15-4149-A8B5-2D19CB5F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Submitted daily entries feed the weekly report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893E6-1EBC-446C-8AF5-74945861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57C94-0528-427E-BDC9-C127BCA9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D73B2-2558-4173-A8B9-4B1ADF6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A3A"/>
                </a:solidFill>
              </a:defRPr>
            </a:pPr>
            <a:r>
              <a:rPr sz="1200" b="1">
                <a:solidFill>
                  <a:srgbClr val="147A3A"/>
                </a:solidFill>
              </a:rPr>
              <a:t>Objectives 1, 2.5</a:t>
            </a:r>
          </a:p>
        </p:txBody>
      </p:sp>
    </p:spTree>
    <p:extLst>
      <p:ext uri="{BB962C8B-B14F-4D97-AF65-F5344CB8AC3E}">
        <p14:creationId xmlns:p14="http://schemas.microsoft.com/office/powerpoint/2010/main" val="20760582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2d403281d471a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916CB-A744-4877-B39B-47E1244D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C95D1-2918-4618-BA9A-7FBB7793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Records Log and POS Transactions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4C944-53CD-4249-B755-10044E6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Managers can inspect submitted daily entries and cashier transaction activity.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CB151-098F-4E24-8A95-578EF04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77AC9-36C5-4C0A-AC41-9D3E807B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2959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d97d572084294"/>
          <a:stretch xmlns:a="http://schemas.openxmlformats.org/drawingml/2006/main"/>
        </p:blipFill>
        <p:spPr>
          <a:xfrm xmlns:a="http://schemas.openxmlformats.org/drawingml/2006/main">
            <a:off x="590550" y="1754981"/>
            <a:ext cx="5143500" cy="3214688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11AE1-A284-4CDB-85FD-57A3EDC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29590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d7fb805b64fed"/>
          <a:stretch xmlns:a="http://schemas.openxmlformats.org/drawingml/2006/main"/>
        </p:blipFill>
        <p:spPr>
          <a:xfrm xmlns:a="http://schemas.openxmlformats.org/drawingml/2006/main">
            <a:off x="6496050" y="1754981"/>
            <a:ext cx="5143500" cy="3214688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7C370-A95B-4273-989D-A9F3752B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8F2"/>
          </a:solidFill>
          <a:ln xmlns:a="http://schemas.openxmlformats.org/drawingml/2006/main" w="0">
            <a:solidFill>
              <a:srgbClr val="DCE8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Daily Entry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1A4DF-6ADE-4B38-82DE-C59E2E58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97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DCE8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POS Transaction 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4FB4E-5C13-4949-9CF2-819E296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A3A"/>
                </a:solidFill>
              </a:defRPr>
            </a:pPr>
            <a:r>
              <a:rPr sz="1575" b="1">
                <a:solidFill>
                  <a:srgbClr val="147A3A"/>
                </a:solidFill>
              </a:rPr>
              <a:t>Objective 2.4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39E7F-360B-44A4-AF55-7D1CD6DA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Screenshots demonstrate role visibility, transaction traceability, and report continuity across portals.</a:t>
            </a:r>
          </a:p>
        </p:txBody>
      </p:sp>
    </p:spTree>
    <p:extLst>
      <p:ext uri="{BB962C8B-B14F-4D97-AF65-F5344CB8AC3E}">
        <p14:creationId xmlns:p14="http://schemas.microsoft.com/office/powerpoint/2010/main" val="1586986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323cd70ef4ff5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9D196-7C5C-41C5-B24E-779A4C5F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WEEKLY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2F6D1-70DF-49EA-ABB9-10261170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Weekly Consolidated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DAD16-FDD0-4652-BF9F-67F4054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Managers choose the exact date span before submitting weekly reports to the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F05D1-3E17-48CC-BFC9-0006407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1FE1F-986F-4AE0-87C8-84FF364F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a5026f2be4296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DC985-07F8-4798-8854-B47BA89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6EED5-DE77-4875-A96D-E114205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BA74F-59D1-4004-8B3F-7C205BB6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Report handoff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D306A-E09D-429A-B4BD-71C4FFF0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24D44-FFA6-4AC8-A66E-DC1B3C8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Weekly report span can be set using start and end 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BD5A6-CC42-4E8F-9170-6300B97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AF127-EAC8-4370-A17D-BC89802F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Fuel breakdown and daily entry summary come from submitted daily entries.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61C42-90A3-485D-B683-2F2547F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C6274-3DA4-4561-A70A-F7D0F67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Owner portal only sees reports after manager submission.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8B522-BCAE-44C6-AEA7-5A267BC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B916D-9F62-4EB5-B89C-811F82EB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DC1AB-CBC2-4618-8F82-711D2E41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Objectives 2.5, 2.6</a:t>
            </a:r>
          </a:p>
        </p:txBody>
      </p:sp>
    </p:spTree>
    <p:extLst>
      <p:ext uri="{BB962C8B-B14F-4D97-AF65-F5344CB8AC3E}">
        <p14:creationId xmlns:p14="http://schemas.microsoft.com/office/powerpoint/2010/main" val="1986748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d328d34b648c5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BDE5-93FD-426C-B2E5-FC489B82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BRANCH PRICE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03E61-B7F7-4F6C-ABEF-3B921C3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Manager Price Change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1DC66-D6A2-43FC-A892-5603335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Managers propose branch-specific prices for owner review instead of directly changing network prices.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574DF-DF12-47A2-ABC9-6E518138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F9EBD-5D51-4ABD-AF0B-134591E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8c0d2e30b4d91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A8AFE-0BB3-4357-BD72-ED054908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71F44-CD0C-4505-AFF0-AEE5021B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C163E-CCA3-411D-B53D-E33F5DAC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Local competitor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C0816-FFA3-45BD-BFC2-092A1F29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92150-76F7-4C6C-A62B-C09696DF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Manager sees current branch prices and official base prices.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108A7-A64A-4D54-A27B-7CCBF9C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35F58-8D69-4566-990F-79BC6B03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Manager submits a requested price and reason.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A20A1-4342-483D-B33D-9083E74C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00FB6-5644-413E-824F-DAA95212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Changes remain pending until the owner approves or rejects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B48E3-8E2A-4008-9E3F-4F90000D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3E5FE-7888-4A19-939A-B0206347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C6C8A-39CE-4E04-9A04-A15083A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Objectives 2.1, 2.4, 4</a:t>
            </a:r>
          </a:p>
        </p:txBody>
      </p:sp>
    </p:spTree>
    <p:extLst>
      <p:ext uri="{BB962C8B-B14F-4D97-AF65-F5344CB8AC3E}">
        <p14:creationId xmlns:p14="http://schemas.microsoft.com/office/powerpoint/2010/main" val="18175026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41b6adbd349a5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81F8B-9440-4DF5-ACD2-2836E941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CASHIER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2E20B-89CC-4003-A294-66EDCE5C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POS Terminal with VAT and Cash Tracking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DF28A-C7E8-4916-93E0-3DC73E7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Cashiers process fuel transactions, cash denominations, change, voids, receipts, and shifts.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E6646-A613-445E-BC06-798B03A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D92B9-CE8F-472A-AE00-97BBB51E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7581900" cy="48006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01224218d4fe8"/>
          <a:stretch xmlns:a="http://schemas.openxmlformats.org/drawingml/2006/main"/>
        </p:blipFill>
        <p:spPr>
          <a:xfrm xmlns:a="http://schemas.openxmlformats.org/drawingml/2006/main">
            <a:off x="552450" y="1659731"/>
            <a:ext cx="7429500" cy="4643438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84B0E-4D5C-4BFD-9F51-677DD418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46482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7A7E4-D7DB-44A3-B2A5-B566459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57350"/>
            <a:ext cx="32099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F1E1E-F157-4B3E-919E-A097730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43100"/>
            <a:ext cx="2686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720"/>
                </a:solidFill>
              </a:defRPr>
            </a:pPr>
            <a:r>
              <a:rPr sz="1875" b="1">
                <a:solidFill>
                  <a:srgbClr val="0B1720"/>
                </a:solidFill>
              </a:rPr>
              <a:t>Transaction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5F615-7719-4E44-BBB7-C6F0D39B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43324-3530-434E-BD4D-A57DACDB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Fuel type, liters, VAT, and total are computed during each sale.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00FD3-43D6-436E-9791-7D5F99B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A3038-F875-4265-932E-8AB8C538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6232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Cash received and change given are recorded by denomination.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A1624-928A-41EA-AC13-7E3DFE9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6A546-C12E-4489-8F85-5A9AE480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6B63"/>
                </a:solidFill>
              </a:defRPr>
            </a:pPr>
            <a:r>
              <a:rPr sz="1200" b="0">
                <a:solidFill>
                  <a:srgbClr val="586B63"/>
                </a:solidFill>
              </a:rPr>
              <a:t>Shift totals and receipt printing support end-of-day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80216-1348-4541-9034-8F6AABC7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435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3BA27-9CB3-4E3C-8855-5546B4C4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34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B63"/>
                </a:solidFill>
              </a:defRPr>
            </a:pPr>
            <a:r>
              <a:rPr sz="900" b="1">
                <a:solidFill>
                  <a:srgbClr val="586B63"/>
                </a:solidFill>
              </a:rPr>
              <a:t>Objective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3364F-68A1-4853-9435-0554091C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721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7A3A"/>
                </a:solidFill>
              </a:defRPr>
            </a:pPr>
            <a:r>
              <a:rPr sz="1200" b="1">
                <a:solidFill>
                  <a:srgbClr val="147A3A"/>
                </a:solidFill>
              </a:rPr>
              <a:t>Objectives 2.2, 2.4, 2.5</a:t>
            </a:r>
          </a:p>
        </p:txBody>
      </p:sp>
    </p:spTree>
    <p:extLst>
      <p:ext uri="{BB962C8B-B14F-4D97-AF65-F5344CB8AC3E}">
        <p14:creationId xmlns:p14="http://schemas.microsoft.com/office/powerpoint/2010/main" val="8454388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e4a8b096248ad"/>
          <a:stretch xmlns:a="http://schemas.openxmlformats.org/drawingml/2006/main"/>
        </p:blipFill>
        <p:spPr>
          <a:xfrm xmlns:a="http://schemas.openxmlformats.org/drawingml/2006/main">
            <a:off x="552450" y="405912"/>
            <a:ext cx="457200" cy="3692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43D88-EAB1-493C-8E67-6DF4213F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47A3A"/>
                </a:solidFill>
              </a:defRPr>
            </a:pPr>
            <a:r>
              <a:rPr sz="900" b="1">
                <a:solidFill>
                  <a:srgbClr val="147A3A"/>
                </a:solidFill>
              </a:rPr>
              <a:t>STUDY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AFD1-5083-4AD4-9718-00FF290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7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720"/>
                </a:solidFill>
              </a:defRPr>
            </a:pPr>
            <a:r>
              <a:rPr sz="2550" b="1">
                <a:solidFill>
                  <a:srgbClr val="0B1720"/>
                </a:solidFill>
              </a:rPr>
              <a:t>Objective Coverage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23B1C-C5BB-4938-AC86-E37468BC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63"/>
                </a:solidFill>
              </a:defRPr>
            </a:pPr>
            <a:r>
              <a:rPr sz="1275" b="0">
                <a:solidFill>
                  <a:srgbClr val="586B63"/>
                </a:solidFill>
              </a:rPr>
              <a:t>Screenshots show how each objective is represented in the developed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B5F93-4B91-4AA2-B579-6D57307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2BF24-D443-4356-B31A-5DDA6F5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25527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56b08333a45e4"/>
          <a:stretch xmlns:a="http://schemas.openxmlformats.org/drawingml/2006/main"/>
        </p:blipFill>
        <p:spPr>
          <a:xfrm xmlns:a="http://schemas.openxmlformats.org/drawingml/2006/main">
            <a:off x="552450" y="1716881"/>
            <a:ext cx="2400300" cy="1500188"/>
          </a:xfrm>
          <a:prstGeom xmlns:a="http://schemas.openxmlformats.org/drawingml/2006/main" prst="roundRect">
            <a:avLst>
              <a:gd name="adj" fmla="val 759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DA7C-52C2-4F9E-9B70-99C25EC8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Owner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63020-BC10-4C4B-8924-91F3307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38300"/>
            <a:ext cx="25527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33c6834104a75"/>
          <a:stretch xmlns:a="http://schemas.openxmlformats.org/drawingml/2006/main"/>
        </p:blipFill>
        <p:spPr>
          <a:xfrm xmlns:a="http://schemas.openxmlformats.org/drawingml/2006/main">
            <a:off x="3371850" y="1716881"/>
            <a:ext cx="2400300" cy="1500188"/>
          </a:xfrm>
          <a:prstGeom xmlns:a="http://schemas.openxmlformats.org/drawingml/2006/main" prst="roundRect">
            <a:avLst>
              <a:gd name="adj" fmla="val 759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2CECF-C0B1-4857-BBA1-028C6290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14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Daily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8EF34-D97C-42AB-9118-FF7E886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5527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17d0892ed4249"/>
          <a:stretch xmlns:a="http://schemas.openxmlformats.org/drawingml/2006/main"/>
        </p:blipFill>
        <p:spPr>
          <a:xfrm xmlns:a="http://schemas.openxmlformats.org/drawingml/2006/main">
            <a:off x="6191250" y="1716881"/>
            <a:ext cx="2400300" cy="1500188"/>
          </a:xfrm>
          <a:prstGeom xmlns:a="http://schemas.openxmlformats.org/drawingml/2006/main" prst="roundRect">
            <a:avLst>
              <a:gd name="adj" fmla="val 759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5644A-DAD3-45F2-9052-F4C290E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Weekly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8DEDE-2F08-418B-9261-AEC5260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38300"/>
            <a:ext cx="25527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660beba7e404b"/>
          <a:stretch xmlns:a="http://schemas.openxmlformats.org/drawingml/2006/main"/>
        </p:blipFill>
        <p:spPr>
          <a:xfrm xmlns:a="http://schemas.openxmlformats.org/drawingml/2006/main">
            <a:off x="9010650" y="1716881"/>
            <a:ext cx="2400300" cy="1500188"/>
          </a:xfrm>
          <a:prstGeom xmlns:a="http://schemas.openxmlformats.org/drawingml/2006/main" prst="roundRect">
            <a:avLst>
              <a:gd name="adj" fmla="val 759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1AE6F-DEB4-4E6B-8CED-F4A868BD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Cashier POS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387B0-347C-4D9A-A2CC-5BE96FF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143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9A572-7AC0-4275-986A-B13EAF41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81180-7302-4C76-889D-E785468D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Objectives 1 and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37D9C-697C-4275-AD07-4BFBABE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720"/>
                </a:solidFill>
              </a:defRPr>
            </a:pPr>
            <a:r>
              <a:rPr sz="1425" b="1">
                <a:solidFill>
                  <a:srgbClr val="0B1720"/>
                </a:solidFill>
              </a:rPr>
              <a:t>Process and build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B480F-D2D5-4100-9D6C-6B417EA9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3"/>
                </a:solidFill>
              </a:defRPr>
            </a:pPr>
            <a:r>
              <a:rPr sz="1125" b="0">
                <a:solidFill>
                  <a:srgbClr val="586B63"/>
                </a:solidFill>
              </a:rPr>
              <a:t>Daily entry, records log, MySQL/PHP backend, and HTML/CSS/JavaScript frontend show the analyzed workflow as a working web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F4746-6F03-4C08-A9DA-373556A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143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867BC-2CBB-4472-BE69-56C4B80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0B710-FDA6-4BED-A65E-89ECA78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Objectives 2.1 and 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8F027-F34B-426A-B8FD-EF05C59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720"/>
                </a:solidFill>
              </a:defRPr>
            </a:pPr>
            <a:r>
              <a:rPr sz="1425" b="1">
                <a:solidFill>
                  <a:srgbClr val="0B1720"/>
                </a:solidFill>
              </a:rPr>
              <a:t>Centralized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825BC-85DB-442F-AE4E-B54AA17B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3"/>
                </a:solidFill>
              </a:defRPr>
            </a:pPr>
            <a:r>
              <a:rPr sz="1125" b="0">
                <a:solidFill>
                  <a:srgbClr val="586B63"/>
                </a:solidFill>
              </a:rPr>
              <a:t>Owner dashboard and branch comparison show synchronized branch data and graphical sales analysis.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2D7EF-E4B8-4E72-9707-B3102331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5143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74804-765B-451C-81F1-51CAC4DC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A3A"/>
          </a:solidFill>
          <a:ln xmlns:a="http://schemas.openxmlformats.org/drawingml/2006/main" w="0">
            <a:solidFill>
              <a:srgbClr val="147A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D164F-1B85-496B-9CC9-1325F37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A3A"/>
                </a:solidFill>
              </a:defRPr>
            </a:pPr>
            <a:r>
              <a:rPr sz="1050" b="1">
                <a:solidFill>
                  <a:srgbClr val="147A3A"/>
                </a:solidFill>
              </a:rPr>
              <a:t>Objectives 2.2 and 2.4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897D9-964B-4FD1-BEB8-D30513A5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720"/>
                </a:solidFill>
              </a:defRPr>
            </a:pPr>
            <a:r>
              <a:rPr sz="1425" b="1">
                <a:solidFill>
                  <a:srgbClr val="0B1720"/>
                </a:solidFill>
              </a:rPr>
              <a:t>POS and audit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01D1C-1B21-498B-95B7-929DE848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006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3"/>
                </a:solidFill>
              </a:defRPr>
            </a:pPr>
            <a:r>
              <a:rPr sz="1125" b="0">
                <a:solidFill>
                  <a:srgbClr val="586B63"/>
                </a:solidFill>
              </a:rPr>
              <a:t>Cashier POS, receipts, transaction logs, void status, and user roles support invoicing and traceable operations.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1DFF6-ED6B-4365-92A1-3D5A2F6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5143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26825-C85D-4CC1-975F-18658915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762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C2306F-758D-4772-813B-9FED7BF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Objectives 2.5, 2.6, and 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F3752B-826B-46A0-95A1-CDA43B89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91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720"/>
                </a:solidFill>
              </a:defRPr>
            </a:pPr>
            <a:r>
              <a:rPr sz="1425" b="1">
                <a:solidFill>
                  <a:srgbClr val="0B1720"/>
                </a:solidFill>
              </a:rPr>
              <a:t>Reports and evaluation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926E06-E4E2-4D18-AEEB-E86CE6E9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171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86B63"/>
                </a:solidFill>
              </a:defRPr>
            </a:pPr>
            <a:r>
              <a:rPr sz="1125" b="0">
                <a:solidFill>
                  <a:srgbClr val="586B63"/>
                </a:solidFill>
              </a:rPr>
              <a:t>Daily/weekly reports, branch performance views, and role controls support usability, functionality, reliability, performance, and security review.</a:t>
            </a:r>
          </a:p>
        </p:txBody>
      </p:sp>
    </p:spTree>
    <p:extLst>
      <p:ext uri="{BB962C8B-B14F-4D97-AF65-F5344CB8AC3E}">
        <p14:creationId xmlns:p14="http://schemas.microsoft.com/office/powerpoint/2010/main" val="1653134200"/>
      </p:ext>
    </p:extLst>
  </p:cSld>
</p:sld>
</file>

<file path=ppt/theme/theme1.xml><?xml version="1.0" encoding="utf-8"?>
<a:theme xmlns:a="http://schemas.openxmlformats.org/drawingml/2006/main" name="ChatGPT">
  <a:themeElements>
    <a:clrScheme name="FuelSight Green">
      <a:dk1>
        <a:srgbClr val="000000"/>
      </a:dk1>
      <a:lt1>
        <a:srgbClr val="FFFFFF"/>
      </a:lt1>
      <a:dk2>
        <a:srgbClr val="0F2D20"/>
      </a:dk2>
      <a:lt2>
        <a:srgbClr val="E5EFE9"/>
      </a:lt2>
      <a:accent1>
        <a:srgbClr val="147A3A"/>
      </a:accent1>
      <a:accent2>
        <a:srgbClr val="5BBF22"/>
      </a:accent2>
      <a:accent3>
        <a:srgbClr val="D97706"/>
      </a:accent3>
      <a:accent4>
        <a:srgbClr val="2563EB"/>
      </a:accent4>
      <a:accent5>
        <a:srgbClr val="0EA5E9"/>
      </a:accent5>
      <a:accent6>
        <a:srgbClr val="16A34A"/>
      </a:accent6>
      <a:hlink>
        <a:srgbClr val="2563EB"/>
      </a:hlink>
      <a:folHlink>
        <a:srgbClr val="6D28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elSight Gree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2026-08-28T18:07:31.0790000Z</dcterms:created>
  <dcterms:modified xsi:type="dcterms:W3CDTF">2026-08-28T18:07:31.0790000Z</dcterms:modified>
</coreProperties>
</file>